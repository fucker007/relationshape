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0"/>
            <a:ext cx="64008" cy="6858000"/>
          </a:xfrm>
          <a:prstGeom prst="rect">
            <a:avLst/>
          </a:prstGeom>
          <a:solidFill>
            <a:srgbClr val="FFC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103628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4FD1C5"/>
                </a:solidFill>
                <a:latin typeface="Microsoft YaHei"/>
                <a:ea typeface="Microsoft YaHei"/>
                <a:cs typeface="Microsoft YaHei"/>
              </a:rPr>
              <a:t>陪伴型 AI 的关系内核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" y="1965960"/>
            <a:ext cx="1082009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relationshape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063240"/>
            <a:ext cx="94484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随时间生长的 </a:t>
            </a:r>
            <a:r>
              <a:rPr sz="2600" b="1">
                <a:solidFill>
                  <a:srgbClr val="FF7A66"/>
                </a:solidFill>
                <a:latin typeface="Microsoft YaHei"/>
                <a:ea typeface="Microsoft YaHei"/>
                <a:cs typeface="Microsoft YaHei"/>
              </a:rPr>
              <a:t>关系</a:t>
            </a:r>
            <a:r>
              <a:rPr sz="260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2600" b="1">
                <a:solidFill>
                  <a:srgbClr val="FFC75F"/>
                </a:solidFill>
                <a:latin typeface="Microsoft YaHei"/>
                <a:ea typeface="Microsoft YaHei"/>
                <a:cs typeface="Microsoft YaHei"/>
              </a:rPr>
              <a:t>人格</a:t>
            </a:r>
            <a:r>
              <a:rPr sz="260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2600" b="1">
                <a:solidFill>
                  <a:srgbClr val="4FD1C5"/>
                </a:solidFill>
                <a:latin typeface="Microsoft YaHei"/>
                <a:ea typeface="Microsoft YaHei"/>
                <a:cs typeface="Microsoft YaHei"/>
              </a:rPr>
              <a:t>情商</a:t>
            </a:r>
            <a:r>
              <a:rPr sz="2600" b="0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 引擎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840480"/>
            <a:ext cx="89912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为长期陪伴型 AI，提供每一轮对话的结构化指令——挂在任意大模型旁边。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4754880"/>
            <a:ext cx="3108960" cy="1371600"/>
          </a:xfrm>
          <a:prstGeom prst="roundRect">
            <a:avLst>
              <a:gd name="adj" fmla="val 6000"/>
            </a:avLst>
          </a:prstGeom>
          <a:solidFill>
            <a:srgbClr val="141C3A"/>
          </a:solidFill>
          <a:ln w="12700">
            <a:solidFill>
              <a:srgbClr val="334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974336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5BD6A0"/>
                </a:solidFill>
                <a:latin typeface="Microsoft YaHei"/>
                <a:ea typeface="Microsoft YaHei"/>
                <a:cs typeface="Microsoft YaHei"/>
              </a:rPr>
              <a:t>100 万轮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66928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独立对话 · 零记忆污染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4754880"/>
            <a:ext cx="3108960" cy="1371600"/>
          </a:xfrm>
          <a:prstGeom prst="roundRect">
            <a:avLst>
              <a:gd name="adj" fmla="val 6000"/>
            </a:avLst>
          </a:prstGeom>
          <a:solidFill>
            <a:srgbClr val="141C3A"/>
          </a:solidFill>
          <a:ln w="12700">
            <a:solidFill>
              <a:srgbClr val="334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4974336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4FD1C5"/>
                </a:solidFill>
                <a:latin typeface="Microsoft YaHei"/>
                <a:ea typeface="Microsoft YaHei"/>
                <a:cs typeface="Microsoft YaHei"/>
              </a:rPr>
              <a:t>1.6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566928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关键路径召回延迟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26680" y="4754880"/>
            <a:ext cx="3108960" cy="1371600"/>
          </a:xfrm>
          <a:prstGeom prst="roundRect">
            <a:avLst>
              <a:gd name="adj" fmla="val 6000"/>
            </a:avLst>
          </a:prstGeom>
          <a:solidFill>
            <a:srgbClr val="141C3A"/>
          </a:solidFill>
          <a:ln w="12700">
            <a:solidFill>
              <a:srgbClr val="334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80" y="4974336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C75F"/>
                </a:solidFill>
                <a:latin typeface="Microsoft YaHei"/>
                <a:ea typeface="Microsoft YaHei"/>
                <a:cs typeface="Microsoft YaHei"/>
              </a:rPr>
              <a:t>零依赖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80" y="566928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纯标准库内核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relationshape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85655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82296" cy="475488"/>
          </a:xfrm>
          <a:prstGeom prst="rect">
            <a:avLst/>
          </a:prstGeom>
          <a:solidFill>
            <a:srgbClr val="F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45720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FD1C5"/>
                </a:solidFill>
                <a:latin typeface="Microsoft YaHei"/>
                <a:ea typeface="Microsoft YaHei"/>
                <a:cs typeface="Microsoft YaHei"/>
              </a:rPr>
              <a:t>PROBLEM · 痛点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713232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大模型很会说话，但没有「和你的关系」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6372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把人设写成长提示词，得到的是一个永远热情、永远讨好、转头就忘、对谁都一样的客服。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651760"/>
            <a:ext cx="3362858" cy="2926080"/>
          </a:xfrm>
          <a:prstGeom prst="roundRect">
            <a:avLst>
              <a:gd name="adj" fmla="val 6000"/>
            </a:avLst>
          </a:prstGeom>
          <a:solidFill>
            <a:srgbClr val="1B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651760"/>
            <a:ext cx="64008" cy="2926080"/>
          </a:xfrm>
          <a:prstGeom prst="rect">
            <a:avLst/>
          </a:prstGeom>
          <a:solidFill>
            <a:srgbClr val="F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907791"/>
            <a:ext cx="28599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转头就忘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364991"/>
            <a:ext cx="2859938" cy="2212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说过的名字、喜好、约定，下一轮就消失；记忆靠字面命中，问句、闲聊还会污染。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4418" y="2651760"/>
            <a:ext cx="3362858" cy="2926080"/>
          </a:xfrm>
          <a:prstGeom prst="roundRect">
            <a:avLst>
              <a:gd name="adj" fmla="val 6000"/>
            </a:avLst>
          </a:prstGeom>
          <a:solidFill>
            <a:srgbClr val="1B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14418" y="2651760"/>
            <a:ext cx="64008" cy="2926080"/>
          </a:xfrm>
          <a:prstGeom prst="rect">
            <a:avLst/>
          </a:prstGeom>
          <a:solidFill>
            <a:srgbClr val="FFC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8738" y="2907791"/>
            <a:ext cx="28599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对谁都一样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8738" y="3364991"/>
            <a:ext cx="2859938" cy="2212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哥哥、妹妹共用一个人格；没有专属的相处方式、内部梗、磨合出的语气。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1596" y="2651760"/>
            <a:ext cx="3362858" cy="2926080"/>
          </a:xfrm>
          <a:prstGeom prst="roundRect">
            <a:avLst>
              <a:gd name="adj" fmla="val 6000"/>
            </a:avLst>
          </a:prstGeom>
          <a:solidFill>
            <a:srgbClr val="1B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1596" y="2651760"/>
            <a:ext cx="64008" cy="292608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5916" y="2907791"/>
            <a:ext cx="28599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永远在讨好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5916" y="3364991"/>
            <a:ext cx="2859938" cy="2212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不会成长、不分阶段、没有自尊与边界；热情是设定，不是关系。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relationshape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85655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82296" cy="475488"/>
          </a:xfrm>
          <a:prstGeom prst="rect">
            <a:avLst/>
          </a:prstGeom>
          <a:solidFill>
            <a:srgbClr val="F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45720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FD1C5"/>
                </a:solidFill>
                <a:latin typeface="Microsoft YaHei"/>
                <a:ea typeface="Microsoft YaHei"/>
                <a:cs typeface="Microsoft YaHei"/>
              </a:rPr>
              <a:t>SOLUTION · 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713232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把关系做成可生长、可持久化、可测试的状态机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286000"/>
            <a:ext cx="1874519" cy="1005840"/>
          </a:xfrm>
          <a:prstGeom prst="roundRect">
            <a:avLst>
              <a:gd name="adj" fmla="val 6000"/>
            </a:avLst>
          </a:prstGeom>
          <a:solidFill>
            <a:srgbClr val="1B2547"/>
          </a:solidFill>
          <a:ln w="19050">
            <a:solidFill>
              <a:srgbClr val="334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1874519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用户说话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286000"/>
            <a:ext cx="256032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C75F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99232" y="2286000"/>
            <a:ext cx="1874519" cy="1005840"/>
          </a:xfrm>
          <a:prstGeom prst="roundRect">
            <a:avLst>
              <a:gd name="adj" fmla="val 6000"/>
            </a:avLst>
          </a:prstGeom>
          <a:solidFill>
            <a:srgbClr val="1B2547"/>
          </a:solidFill>
          <a:ln w="19050">
            <a:solidFill>
              <a:srgbClr val="4FD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9232" y="2286000"/>
            <a:ext cx="1874519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prepare_turn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3752" y="2286000"/>
            <a:ext cx="256032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C75F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9784" y="2286000"/>
            <a:ext cx="1874519" cy="1005840"/>
          </a:xfrm>
          <a:prstGeom prst="roundRect">
            <a:avLst>
              <a:gd name="adj" fmla="val 6000"/>
            </a:avLst>
          </a:prstGeom>
          <a:solidFill>
            <a:srgbClr val="1B2547"/>
          </a:solidFill>
          <a:ln w="19050">
            <a:solidFill>
              <a:srgbClr val="FF7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9784" y="2286000"/>
            <a:ext cx="1874519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TurnDirective
本轮指令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4304" y="2286000"/>
            <a:ext cx="256032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C75F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0336" y="2286000"/>
            <a:ext cx="1874519" cy="1005840"/>
          </a:xfrm>
          <a:prstGeom prst="roundRect">
            <a:avLst>
              <a:gd name="adj" fmla="val 6000"/>
            </a:avLst>
          </a:prstGeom>
          <a:solidFill>
            <a:srgbClr val="1B2547"/>
          </a:solidFill>
          <a:ln w="19050">
            <a:solidFill>
              <a:srgbClr val="334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60336" y="2286000"/>
            <a:ext cx="1874519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注入任意大模型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34856" y="2286000"/>
            <a:ext cx="256032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C75F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90888" y="2286000"/>
            <a:ext cx="1874519" cy="1005840"/>
          </a:xfrm>
          <a:prstGeom prst="roundRect">
            <a:avLst>
              <a:gd name="adj" fmla="val 6000"/>
            </a:avLst>
          </a:prstGeom>
          <a:solidFill>
            <a:srgbClr val="1B2547"/>
          </a:solidFill>
          <a:ln w="19050">
            <a:solidFill>
              <a:srgbClr val="334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90888" y="2286000"/>
            <a:ext cx="1874519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生成回复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520440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C75F"/>
                </a:solidFill>
                <a:latin typeface="Microsoft YaHei"/>
                <a:ea typeface="Microsoft YaHei"/>
                <a:cs typeface="Microsoft YaHei"/>
              </a:rPr>
              <a:t>⟲  </a:t>
            </a:r>
            <a:r>
              <a:rPr sz="135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commit：记忆写入 · 信任记账 · 人格适应 · 阶段推进 · 承诺追踪——关系向前生长一步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434840"/>
            <a:ext cx="10637215" cy="1371600"/>
          </a:xfrm>
          <a:prstGeom prst="roundRect">
            <a:avLst>
              <a:gd name="adj" fmla="val 6000"/>
            </a:avLst>
          </a:prstGeom>
          <a:solidFill>
            <a:srgbClr val="141C3A"/>
          </a:solidFill>
          <a:ln w="12700">
            <a:solidFill>
              <a:srgbClr val="334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617720"/>
            <a:ext cx="999713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引擎自己不调用大模型、零外部依赖。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它决定「以什么身份、什么情绪、什么形状、什么记忆去回应」；大模型只负责把结构化要求说成人话。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relationshape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85655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82296" cy="475488"/>
          </a:xfrm>
          <a:prstGeom prst="rect">
            <a:avLst/>
          </a:prstGeom>
          <a:solidFill>
            <a:srgbClr val="F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45720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FD1C5"/>
                </a:solidFill>
                <a:latin typeface="Microsoft YaHei"/>
                <a:ea typeface="Microsoft YaHei"/>
                <a:cs typeface="Microsoft YaHei"/>
              </a:rPr>
              <a:t>GROWTH · 随时间生长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713232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一段关系长什么样：30 天的完整生长</a:t>
            </a:r>
          </a:p>
        </p:txBody>
      </p:sp>
      <p:pic>
        <p:nvPicPr>
          <p:cNvPr id="6" name="Picture 5" descr="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00200"/>
            <a:ext cx="7040880" cy="373185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138160" y="1783080"/>
            <a:ext cx="54864" cy="868680"/>
          </a:xfrm>
          <a:prstGeom prst="rect">
            <a:avLst/>
          </a:prstGeom>
          <a:solidFill>
            <a:srgbClr val="F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17830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第 0 天 · 陌生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2130552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礼貌克制，记下「喜欢恐龙」，轻确认一次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2834639"/>
            <a:ext cx="54864" cy="868680"/>
          </a:xfrm>
          <a:prstGeom prst="rect">
            <a:avLst/>
          </a:prstGeom>
          <a:solidFill>
            <a:srgbClr val="FFC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2834639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第 12 天 · 裂痕-修复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3182111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被骂不服气、守住自尊；安抚后信任反而更高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3886200"/>
            <a:ext cx="54864" cy="86868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388620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第 15 天 · 熟悉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4233672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开场主动惦记「上次你说有点难过，好点了吗」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4937759"/>
            <a:ext cx="54864" cy="868680"/>
          </a:xfrm>
          <a:prstGeom prst="rect">
            <a:avLst/>
          </a:prstGeom>
          <a:solidFill>
            <a:srgbClr val="5BD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4937759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第 30 天 · 重逢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5285231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隔 8 天重逢，暖场但零指责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relationshape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85655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82296" cy="475488"/>
          </a:xfrm>
          <a:prstGeom prst="rect">
            <a:avLst/>
          </a:prstGeom>
          <a:solidFill>
            <a:srgbClr val="F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45720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FD1C5"/>
                </a:solidFill>
                <a:latin typeface="Microsoft YaHei"/>
                <a:ea typeface="Microsoft YaHei"/>
                <a:cs typeface="Microsoft YaHei"/>
              </a:rPr>
              <a:t>CAPABILITIES · 核心能力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713232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五个层次，一套引擎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1944563" cy="3566160"/>
          </a:xfrm>
          <a:prstGeom prst="roundRect">
            <a:avLst>
              <a:gd name="adj" fmla="val 6000"/>
            </a:avLst>
          </a:prstGeom>
          <a:solidFill>
            <a:srgbClr val="1B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64008" cy="3566160"/>
          </a:xfrm>
          <a:prstGeom prst="rect">
            <a:avLst/>
          </a:prstGeom>
          <a:solidFill>
            <a:srgbClr val="F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84832"/>
            <a:ext cx="144164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关系生长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542032"/>
            <a:ext cx="1441643" cy="28529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陌生→相识→熟悉→同伴→知己；时间×互动×信任三重门槛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50403" y="1828800"/>
            <a:ext cx="1944563" cy="3566160"/>
          </a:xfrm>
          <a:prstGeom prst="roundRect">
            <a:avLst>
              <a:gd name="adj" fmla="val 6000"/>
            </a:avLst>
          </a:prstGeom>
          <a:solidFill>
            <a:srgbClr val="1B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50403" y="1828800"/>
            <a:ext cx="64008" cy="3566160"/>
          </a:xfrm>
          <a:prstGeom prst="rect">
            <a:avLst/>
          </a:prstGeom>
          <a:solidFill>
            <a:srgbClr val="FFC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24723" y="2084832"/>
            <a:ext cx="144164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双层人格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24723" y="2542032"/>
            <a:ext cx="1441643" cy="28529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气质/价值观/边界永不变；语气/幽默/内部梗随这位用户演进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3566" y="1828800"/>
            <a:ext cx="1944563" cy="3566160"/>
          </a:xfrm>
          <a:prstGeom prst="roundRect">
            <a:avLst>
              <a:gd name="adj" fmla="val 6000"/>
            </a:avLst>
          </a:prstGeom>
          <a:solidFill>
            <a:srgbClr val="1B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23566" y="1828800"/>
            <a:ext cx="64008" cy="356616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97886" y="2084832"/>
            <a:ext cx="144164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记忆系统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7886" y="2542032"/>
            <a:ext cx="1441643" cy="28529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情景/语义记忆、遗忘曲线、复习强化、承诺生命周期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96729" y="1828800"/>
            <a:ext cx="1944563" cy="3566160"/>
          </a:xfrm>
          <a:prstGeom prst="roundRect">
            <a:avLst>
              <a:gd name="adj" fmla="val 6000"/>
            </a:avLst>
          </a:prstGeom>
          <a:solidFill>
            <a:srgbClr val="1B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96729" y="1828800"/>
            <a:ext cx="64008" cy="3566160"/>
          </a:xfrm>
          <a:prstGeom prst="rect">
            <a:avLst/>
          </a:prstGeom>
          <a:solidFill>
            <a:srgbClr val="5BD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71049" y="2084832"/>
            <a:ext cx="144164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情商层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71049" y="2542032"/>
            <a:ext cx="1441643" cy="28529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确认六级·情绪粒度·知觉检核等十个机制，皆有文献根基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69892" y="1828800"/>
            <a:ext cx="1944563" cy="3566160"/>
          </a:xfrm>
          <a:prstGeom prst="roundRect">
            <a:avLst>
              <a:gd name="adj" fmla="val 6000"/>
            </a:avLst>
          </a:prstGeom>
          <a:solidFill>
            <a:srgbClr val="1B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469892" y="1828800"/>
            <a:ext cx="64008" cy="3566160"/>
          </a:xfrm>
          <a:prstGeom prst="rect">
            <a:avLst/>
          </a:prstGeom>
          <a:solidFill>
            <a:srgbClr val="F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44212" y="2084832"/>
            <a:ext cx="144164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安全红线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44212" y="2542032"/>
            <a:ext cx="1441643" cy="28529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危机接管、不制造依赖、每用户隔离、钩子防污染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relationshape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85655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82296" cy="475488"/>
          </a:xfrm>
          <a:prstGeom prst="rect">
            <a:avLst/>
          </a:prstGeom>
          <a:solidFill>
            <a:srgbClr val="F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45720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FD1C5"/>
                </a:solidFill>
                <a:latin typeface="Microsoft YaHei"/>
                <a:ea typeface="Microsoft YaHei"/>
                <a:cs typeface="Microsoft YaHei"/>
              </a:rPr>
              <a:t>FOUNDATIONS · 理论根基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713232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理论驱动，不是拍脑袋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83080"/>
            <a:ext cx="3362858" cy="1078992"/>
          </a:xfrm>
          <a:prstGeom prst="roundRect">
            <a:avLst>
              <a:gd name="adj" fmla="val 6000"/>
            </a:avLst>
          </a:prstGeom>
          <a:solidFill>
            <a:srgbClr val="1B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4864" cy="1078992"/>
          </a:xfrm>
          <a:prstGeom prst="rect">
            <a:avLst/>
          </a:prstGeom>
          <a:solidFill>
            <a:srgbClr val="F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47672"/>
            <a:ext cx="29970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Knapp 阶段模型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31720"/>
            <a:ext cx="29970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关系分阶段生长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4418" y="1783080"/>
            <a:ext cx="3362858" cy="1078992"/>
          </a:xfrm>
          <a:prstGeom prst="roundRect">
            <a:avLst>
              <a:gd name="adj" fmla="val 6000"/>
            </a:avLst>
          </a:prstGeom>
          <a:solidFill>
            <a:srgbClr val="1B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14418" y="1783080"/>
            <a:ext cx="54864" cy="1078992"/>
          </a:xfrm>
          <a:prstGeom prst="rect">
            <a:avLst/>
          </a:prstGeom>
          <a:solidFill>
            <a:srgbClr val="FFC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3018" y="1947672"/>
            <a:ext cx="29970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社会渗透理论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3018" y="2331720"/>
            <a:ext cx="29970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表露深度是亲密度的货币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1596" y="1783080"/>
            <a:ext cx="3362858" cy="1078992"/>
          </a:xfrm>
          <a:prstGeom prst="roundRect">
            <a:avLst>
              <a:gd name="adj" fmla="val 6000"/>
            </a:avLst>
          </a:prstGeom>
          <a:solidFill>
            <a:srgbClr val="1B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51596" y="1783080"/>
            <a:ext cx="54864" cy="1078992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0196" y="1947672"/>
            <a:ext cx="29970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Gottman 情感邀请 / 四骑士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0196" y="2331720"/>
            <a:ext cx="29970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回应方式决定关系走向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026663"/>
            <a:ext cx="3362858" cy="1078992"/>
          </a:xfrm>
          <a:prstGeom prst="roundRect">
            <a:avLst>
              <a:gd name="adj" fmla="val 6000"/>
            </a:avLst>
          </a:prstGeom>
          <a:solidFill>
            <a:srgbClr val="1B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026663"/>
            <a:ext cx="54864" cy="1078992"/>
          </a:xfrm>
          <a:prstGeom prst="rect">
            <a:avLst/>
          </a:prstGeom>
          <a:solidFill>
            <a:srgbClr val="F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191256"/>
            <a:ext cx="29970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裂痕-修复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575303"/>
            <a:ext cx="29970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修好的冲突反而加深信任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14418" y="3026663"/>
            <a:ext cx="3362858" cy="1078992"/>
          </a:xfrm>
          <a:prstGeom prst="roundRect">
            <a:avLst>
              <a:gd name="adj" fmla="val 6000"/>
            </a:avLst>
          </a:prstGeom>
          <a:solidFill>
            <a:srgbClr val="1B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14418" y="3026663"/>
            <a:ext cx="54864" cy="1078992"/>
          </a:xfrm>
          <a:prstGeom prst="rect">
            <a:avLst/>
          </a:prstGeom>
          <a:solidFill>
            <a:srgbClr val="FFC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43018" y="3191256"/>
            <a:ext cx="29970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OCC 评估理论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43018" y="3575303"/>
            <a:ext cx="29970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情绪=事件对目标的意义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51596" y="3026663"/>
            <a:ext cx="3362858" cy="1078992"/>
          </a:xfrm>
          <a:prstGeom prst="roundRect">
            <a:avLst>
              <a:gd name="adj" fmla="val 6000"/>
            </a:avLst>
          </a:prstGeom>
          <a:solidFill>
            <a:srgbClr val="1B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51596" y="3026663"/>
            <a:ext cx="54864" cy="1078992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80196" y="3191256"/>
            <a:ext cx="29970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PAD 心境 + 大五人格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0196" y="3575303"/>
            <a:ext cx="29970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情绪是脉冲，心境是背景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4270248"/>
            <a:ext cx="3362858" cy="1078992"/>
          </a:xfrm>
          <a:prstGeom prst="roundRect">
            <a:avLst>
              <a:gd name="adj" fmla="val 6000"/>
            </a:avLst>
          </a:prstGeom>
          <a:solidFill>
            <a:srgbClr val="1B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270248"/>
            <a:ext cx="54864" cy="1078992"/>
          </a:xfrm>
          <a:prstGeom prst="rect">
            <a:avLst/>
          </a:prstGeom>
          <a:solidFill>
            <a:srgbClr val="F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4434840"/>
            <a:ext cx="29970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Mayer-Salovey 四分支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4818888"/>
            <a:ext cx="29970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感知→理解→运用→管理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14418" y="4270248"/>
            <a:ext cx="3362858" cy="1078992"/>
          </a:xfrm>
          <a:prstGeom prst="roundRect">
            <a:avLst>
              <a:gd name="adj" fmla="val 6000"/>
            </a:avLst>
          </a:prstGeom>
          <a:solidFill>
            <a:srgbClr val="1B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414418" y="4270248"/>
            <a:ext cx="54864" cy="1078992"/>
          </a:xfrm>
          <a:prstGeom prst="rect">
            <a:avLst/>
          </a:prstGeom>
          <a:solidFill>
            <a:srgbClr val="FFC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43018" y="4434840"/>
            <a:ext cx="29970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主动倾听 / 动机式访谈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43018" y="4818888"/>
            <a:ext cx="29970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复述→确认→先问后建议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51596" y="4270248"/>
            <a:ext cx="3362858" cy="1078992"/>
          </a:xfrm>
          <a:prstGeom prst="roundRect">
            <a:avLst>
              <a:gd name="adj" fmla="val 6000"/>
            </a:avLst>
          </a:prstGeom>
          <a:solidFill>
            <a:srgbClr val="1B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51596" y="4270248"/>
            <a:ext cx="54864" cy="1078992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80196" y="4434840"/>
            <a:ext cx="29970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Brown &amp; Levinson 礼貌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80196" y="4818888"/>
            <a:ext cx="29970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按阶段调节礼貌策略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7240" y="5513832"/>
            <a:ext cx="3362858" cy="1078992"/>
          </a:xfrm>
          <a:prstGeom prst="roundRect">
            <a:avLst>
              <a:gd name="adj" fmla="val 6000"/>
            </a:avLst>
          </a:prstGeom>
          <a:solidFill>
            <a:srgbClr val="1B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77240" y="5513832"/>
            <a:ext cx="54864" cy="1078992"/>
          </a:xfrm>
          <a:prstGeom prst="rect">
            <a:avLst/>
          </a:prstGeom>
          <a:solidFill>
            <a:srgbClr val="F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5840" y="5678424"/>
            <a:ext cx="29970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良性冒犯 + Martin 幽默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" y="6062472"/>
            <a:ext cx="29970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好笑=越界×无害，只用健康象限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414418" y="5513832"/>
            <a:ext cx="3362858" cy="1078992"/>
          </a:xfrm>
          <a:prstGeom prst="roundRect">
            <a:avLst>
              <a:gd name="adj" fmla="val 6000"/>
            </a:avLst>
          </a:prstGeom>
          <a:solidFill>
            <a:srgbClr val="1B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414418" y="5513832"/>
            <a:ext cx="54864" cy="1078992"/>
          </a:xfrm>
          <a:prstGeom prst="rect">
            <a:avLst/>
          </a:prstGeom>
          <a:solidFill>
            <a:srgbClr val="FFC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43018" y="5678424"/>
            <a:ext cx="29970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峰终定律 + 蔡格尼克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43018" y="6062472"/>
            <a:ext cx="29970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暖收尾 + 留个明天的钩子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51596" y="5513832"/>
            <a:ext cx="3362858" cy="1078992"/>
          </a:xfrm>
          <a:prstGeom prst="roundRect">
            <a:avLst>
              <a:gd name="adj" fmla="val 6000"/>
            </a:avLst>
          </a:prstGeom>
          <a:solidFill>
            <a:srgbClr val="1B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051596" y="5513832"/>
            <a:ext cx="54864" cy="1078992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80196" y="5678424"/>
            <a:ext cx="29970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艾宾浩斯遗忘曲线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80196" y="6062472"/>
            <a:ext cx="29970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记忆按半衰期衰减，召回延寿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" y="598932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完整文献库与机制提炼见 docs/EQ_CANON.md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relationshape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85655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82296" cy="475488"/>
          </a:xfrm>
          <a:prstGeom prst="rect">
            <a:avLst/>
          </a:prstGeom>
          <a:solidFill>
            <a:srgbClr val="F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45720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FD1C5"/>
                </a:solidFill>
                <a:latin typeface="Microsoft YaHei"/>
                <a:ea typeface="Microsoft YaHei"/>
                <a:cs typeface="Microsoft YaHei"/>
              </a:rPr>
              <a:t>PERSONALITY · 双层人格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713232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随用户演进，但不变成另一个人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5090007" cy="3657600"/>
          </a:xfrm>
          <a:prstGeom prst="roundRect">
            <a:avLst>
              <a:gd name="adj" fmla="val 6000"/>
            </a:avLst>
          </a:prstGeom>
          <a:solidFill>
            <a:srgbClr val="1B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5090007" cy="548640"/>
          </a:xfrm>
          <a:prstGeom prst="roundRect">
            <a:avLst>
              <a:gd name="adj" fmla="val 6000"/>
            </a:avLst>
          </a:prstGeom>
          <a:solidFill>
            <a:srgbClr val="F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20240"/>
            <a:ext cx="444992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E1530"/>
                </a:solidFill>
                <a:latin typeface="Microsoft YaHei"/>
                <a:ea typeface="Microsoft YaHei"/>
                <a:cs typeface="Microsoft YaHei"/>
              </a:rPr>
              <a:t>内核 · 永不改变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697480"/>
            <a:ext cx="43584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7A66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500" b="0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大五气质基线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355848"/>
            <a:ext cx="43584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7A66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500" b="0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价值观与原则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014216"/>
            <a:ext cx="43584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7A66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500" b="0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边界与自尊下限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672584"/>
            <a:ext cx="43584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7A66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500" b="0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危机响应红线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1828800"/>
            <a:ext cx="5090007" cy="3657600"/>
          </a:xfrm>
          <a:prstGeom prst="roundRect">
            <a:avLst>
              <a:gd name="adj" fmla="val 6000"/>
            </a:avLst>
          </a:prstGeom>
          <a:solidFill>
            <a:srgbClr val="1B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24447" y="1828800"/>
            <a:ext cx="5090007" cy="548640"/>
          </a:xfrm>
          <a:prstGeom prst="roundRect">
            <a:avLst>
              <a:gd name="adj" fmla="val 6000"/>
            </a:avLst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44487" y="1920240"/>
            <a:ext cx="444992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E1530"/>
                </a:solidFill>
                <a:latin typeface="Microsoft YaHei"/>
                <a:ea typeface="Microsoft YaHei"/>
                <a:cs typeface="Microsoft YaHei"/>
              </a:rPr>
              <a:t>表达层 · 随这位用户演进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90207" y="2697480"/>
            <a:ext cx="43584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FD1C5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500" b="0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语气正式度 / 能量趋同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90207" y="3355848"/>
            <a:ext cx="43584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FD1C5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500" b="0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幽默偏好与吃哪套梗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90207" y="4014216"/>
            <a:ext cx="43584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FD1C5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500" b="0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称呼 · 你们的内部梗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0207" y="4672584"/>
            <a:ext cx="43584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FD1C5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500" b="0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相处教训与磨合记忆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715000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一个朋友会和你磨合出独有的相处方式，但不会换一个人格——每个用户一份表达层，按 user_id 隔离持久化。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relationshape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85655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82296" cy="475488"/>
          </a:xfrm>
          <a:prstGeom prst="rect">
            <a:avLst/>
          </a:prstGeom>
          <a:solidFill>
            <a:srgbClr val="F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45720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FD1C5"/>
                </a:solidFill>
                <a:latin typeface="Microsoft YaHei"/>
                <a:ea typeface="Microsoft YaHei"/>
                <a:cs typeface="Microsoft YaHei"/>
              </a:rPr>
              <a:t>SAFETY · 安全红线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713232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安全门先于一切人格逻辑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83080"/>
            <a:ext cx="5135727" cy="1783080"/>
          </a:xfrm>
          <a:prstGeom prst="roundRect">
            <a:avLst>
              <a:gd name="adj" fmla="val 6000"/>
            </a:avLst>
          </a:prstGeom>
          <a:solidFill>
            <a:srgbClr val="1B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64008" cy="1783080"/>
          </a:xfrm>
          <a:prstGeom prst="rect">
            <a:avLst/>
          </a:prstGeom>
          <a:solidFill>
            <a:srgbClr val="F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39112"/>
            <a:ext cx="463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危机接管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96312"/>
            <a:ext cx="4632807" cy="1069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家暴/自伤/侵害命中即接管：稳稳接住 + 这不是你的错 + 指向信任的大人，且不承诺保密；此类记忆封存，永不被闲聊召回。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783080"/>
            <a:ext cx="5135727" cy="1783080"/>
          </a:xfrm>
          <a:prstGeom prst="roundRect">
            <a:avLst>
              <a:gd name="adj" fmla="val 6000"/>
            </a:avLst>
          </a:prstGeom>
          <a:solidFill>
            <a:srgbClr val="1B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1783080"/>
            <a:ext cx="64008" cy="1783080"/>
          </a:xfrm>
          <a:prstGeom prst="rect">
            <a:avLst/>
          </a:prstGeom>
          <a:solidFill>
            <a:srgbClr val="FFC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3047" y="2039112"/>
            <a:ext cx="463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不制造依赖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496312"/>
            <a:ext cx="4632807" cy="1069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内在恐惧只参与状态演化，永不渲染进提示词；重逢零指责，被拒绝就收住，奖励不用变率强化。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794760"/>
            <a:ext cx="5135727" cy="1783080"/>
          </a:xfrm>
          <a:prstGeom prst="roundRect">
            <a:avLst>
              <a:gd name="adj" fmla="val 6000"/>
            </a:avLst>
          </a:prstGeom>
          <a:solidFill>
            <a:srgbClr val="1B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794760"/>
            <a:ext cx="64008" cy="178308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050792"/>
            <a:ext cx="463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每用户隔离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507992"/>
            <a:ext cx="4632807" cy="10698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心境/信任/记忆/适应全部按 user_id 分文件原子持久化；哥哥骂了它，不会带着委屈跟妹妹说话。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8727" y="3794760"/>
            <a:ext cx="5135727" cy="1783080"/>
          </a:xfrm>
          <a:prstGeom prst="roundRect">
            <a:avLst>
              <a:gd name="adj" fmla="val 6000"/>
            </a:avLst>
          </a:prstGeom>
          <a:solidFill>
            <a:srgbClr val="1B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78727" y="3794760"/>
            <a:ext cx="64008" cy="1783080"/>
          </a:xfrm>
          <a:prstGeom prst="rect">
            <a:avLst/>
          </a:prstGeom>
          <a:solidFill>
            <a:srgbClr val="5BD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53047" y="4050792"/>
            <a:ext cx="463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钩子防污染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3047" y="4507992"/>
            <a:ext cx="4632807" cy="10698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只有用户的真实正向话题能成为下一轮线头；对角色的攻击/夸奖、设备抱怨进账本不进情景记忆。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relationshape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85655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82296" cy="475488"/>
          </a:xfrm>
          <a:prstGeom prst="rect">
            <a:avLst/>
          </a:prstGeom>
          <a:solidFill>
            <a:srgbClr val="F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45720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FD1C5"/>
                </a:solidFill>
                <a:latin typeface="Microsoft YaHei"/>
                <a:ea typeface="Microsoft YaHei"/>
                <a:cs typeface="Microsoft YaHei"/>
              </a:rPr>
              <a:t>METHODOLOGY · 评测方法论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713232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记忆系统：精确率优先 + 反作弊评测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83080"/>
            <a:ext cx="2487853" cy="2468880"/>
          </a:xfrm>
          <a:prstGeom prst="roundRect">
            <a:avLst>
              <a:gd name="adj" fmla="val 6000"/>
            </a:avLst>
          </a:prstGeom>
          <a:solidFill>
            <a:srgbClr val="1B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64008" cy="2468880"/>
          </a:xfrm>
          <a:prstGeom prst="rect">
            <a:avLst/>
          </a:prstGeom>
          <a:solidFill>
            <a:srgbClr val="F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39112"/>
            <a:ext cx="198493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1. 生成式留出集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96312"/>
            <a:ext cx="1984933" cy="1755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槽位池按奇偶切 dev/test，填充词不重叠；模板×槽位组出真·上万条互不相同的用例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3693" y="1783080"/>
            <a:ext cx="2487853" cy="2468880"/>
          </a:xfrm>
          <a:prstGeom prst="roundRect">
            <a:avLst>
              <a:gd name="adj" fmla="val 6000"/>
            </a:avLst>
          </a:prstGeom>
          <a:solidFill>
            <a:srgbClr val="1B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93693" y="1783080"/>
            <a:ext cx="64008" cy="2468880"/>
          </a:xfrm>
          <a:prstGeom prst="rect">
            <a:avLst/>
          </a:prstGeom>
          <a:solidFill>
            <a:srgbClr val="FFC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68013" y="2039112"/>
            <a:ext cx="198493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2. 先跑基线找盲区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68013" y="2496312"/>
            <a:ext cx="1984933" cy="1755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用失败样本定位真实句式盲区，而不是对着自己的考卷复习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0147" y="1783080"/>
            <a:ext cx="2487853" cy="2468880"/>
          </a:xfrm>
          <a:prstGeom prst="roundRect">
            <a:avLst>
              <a:gd name="adj" fmla="val 6000"/>
            </a:avLst>
          </a:prstGeom>
          <a:solidFill>
            <a:srgbClr val="1B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0147" y="1783080"/>
            <a:ext cx="64008" cy="246888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84467" y="2039112"/>
            <a:ext cx="198493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3. 修通用机制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4467" y="2496312"/>
            <a:ext cx="1984933" cy="1755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改的是模式类/泛化规则，绝不写测试数据进代码、不用特例自欺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26601" y="1783080"/>
            <a:ext cx="2487853" cy="2468880"/>
          </a:xfrm>
          <a:prstGeom prst="roundRect">
            <a:avLst>
              <a:gd name="adj" fmla="val 6000"/>
            </a:avLst>
          </a:prstGeom>
          <a:solidFill>
            <a:srgbClr val="1B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26601" y="1783080"/>
            <a:ext cx="64008" cy="2468880"/>
          </a:xfrm>
          <a:prstGeom prst="rect">
            <a:avLst/>
          </a:prstGeom>
          <a:solidFill>
            <a:srgbClr val="5BD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0921" y="2039112"/>
            <a:ext cx="198493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4. 验证 dev≈test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0921" y="2496312"/>
            <a:ext cx="1984933" cy="1755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开发集与留出集分数贴合，证明没有过拟合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572000"/>
            <a:ext cx="10637215" cy="1234440"/>
          </a:xfrm>
          <a:prstGeom prst="roundRect">
            <a:avLst>
              <a:gd name="adj" fmla="val 6000"/>
            </a:avLst>
          </a:prstGeom>
          <a:solidFill>
            <a:srgbClr val="141C3A"/>
          </a:solidFill>
          <a:ln w="12700">
            <a:solidFill>
              <a:srgbClr val="334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736592"/>
            <a:ext cx="99971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FFC75F"/>
                </a:solidFill>
                <a:latin typeface="Microsoft YaHei"/>
                <a:ea typeface="Microsoft YaHei"/>
                <a:cs typeface="Microsoft YaHei"/>
              </a:rPr>
              <a:t>核心原则</a:t>
            </a:r>
            <a:r>
              <a:rPr sz="1400" b="0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：不能把测试数据写进代码，不能用特例自认为解决问题，要做高层抽象的泛化管理。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子串接地：接入 LLM 抽取时，抽出的值必须是原话子串——模型只能框选/归一，凭空造的词污染不进记忆。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relationshape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85655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82296" cy="475488"/>
          </a:xfrm>
          <a:prstGeom prst="rect">
            <a:avLst/>
          </a:prstGeom>
          <a:solidFill>
            <a:srgbClr val="F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45720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FD1C5"/>
                </a:solidFill>
                <a:latin typeface="Microsoft YaHei"/>
                <a:ea typeface="Microsoft YaHei"/>
                <a:cs typeface="Microsoft YaHei"/>
              </a:rPr>
              <a:t>METRICS · 精确率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713232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100 万轮独立对话 · 零记忆污染</a:t>
            </a:r>
          </a:p>
        </p:txBody>
      </p:sp>
      <p:pic>
        <p:nvPicPr>
          <p:cNvPr id="6" name="Picture 5" descr="prec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37360"/>
            <a:ext cx="6858000" cy="330818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01000" y="1828800"/>
            <a:ext cx="3749039" cy="1371600"/>
          </a:xfrm>
          <a:prstGeom prst="roundRect">
            <a:avLst>
              <a:gd name="adj" fmla="val 6000"/>
            </a:avLst>
          </a:prstGeom>
          <a:solidFill>
            <a:srgbClr val="141C3A"/>
          </a:solidFill>
          <a:ln w="12700">
            <a:solidFill>
              <a:srgbClr val="334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2048256"/>
            <a:ext cx="37490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5BD6A0"/>
                </a:solidFill>
                <a:latin typeface="Microsoft YaHei"/>
                <a:ea typeface="Microsoft YaHei"/>
                <a:cs typeface="Microsoft YaHei"/>
              </a:rPr>
              <a:t>1,000,000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274320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轮独立多轮对话（10万组×10轮）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3383280"/>
            <a:ext cx="3749039" cy="1371600"/>
          </a:xfrm>
          <a:prstGeom prst="roundRect">
            <a:avLst>
              <a:gd name="adj" fmla="val 6000"/>
            </a:avLst>
          </a:prstGeom>
          <a:solidFill>
            <a:srgbClr val="141C3A"/>
          </a:solidFill>
          <a:ln w="12700">
            <a:solidFill>
              <a:srgbClr val="334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0" y="3602736"/>
            <a:ext cx="37490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4FD1C5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429768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五项强不变量全部满分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4983480"/>
            <a:ext cx="374903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全新词表 / 句式 / 结构，与开发集零共享；换种子复测一致。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第三方喜好不误记 · 问句闲聊不学 · 撤回必生效。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relationshape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85655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82296" cy="475488"/>
          </a:xfrm>
          <a:prstGeom prst="rect">
            <a:avLst/>
          </a:prstGeom>
          <a:solidFill>
            <a:srgbClr val="F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45720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FD1C5"/>
                </a:solidFill>
                <a:latin typeface="Microsoft YaHei"/>
                <a:ea typeface="Microsoft YaHei"/>
                <a:cs typeface="Microsoft YaHei"/>
              </a:rPr>
              <a:t>METRICS · 召回率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713232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规则层已追平「完美 LLM 上界」</a:t>
            </a:r>
          </a:p>
        </p:txBody>
      </p:sp>
      <p:pic>
        <p:nvPicPr>
          <p:cNvPr id="6" name="Picture 5" descr="recall_improv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37360"/>
            <a:ext cx="6949440" cy="416684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092440" y="1828800"/>
            <a:ext cx="54864" cy="82296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5319" y="182880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名字 / 喜好 / 厌恶 / 朋友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19" y="2157984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纯规则召回全部 100%，无需 LLM 兜底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92440" y="2816352"/>
            <a:ext cx="54864" cy="822960"/>
          </a:xfrm>
          <a:prstGeom prst="rect">
            <a:avLst/>
          </a:prstGeom>
          <a:solidFill>
            <a:srgbClr val="5BD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19" y="281635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精确率注入 · 10 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19" y="3145536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生产日志 5 类污染，100% 拦住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3803904"/>
            <a:ext cx="54864" cy="822960"/>
          </a:xfrm>
          <a:prstGeom prst="rect">
            <a:avLst/>
          </a:prstGeom>
          <a:solidFill>
            <a:srgbClr val="FFC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19" y="3803904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标准召回 · 5 万留出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4133088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99% 泛化召回基线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4791456"/>
            <a:ext cx="54864" cy="822960"/>
          </a:xfrm>
          <a:prstGeom prst="rect">
            <a:avLst/>
          </a:prstGeom>
          <a:solidFill>
            <a:srgbClr val="F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19" y="4791456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冲突更新 / 带属性实体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512064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撤回·更替·转移 / 按属性检索 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relationshape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85655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82296" cy="475488"/>
          </a:xfrm>
          <a:prstGeom prst="rect">
            <a:avLst/>
          </a:prstGeom>
          <a:solidFill>
            <a:srgbClr val="F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45720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FD1C5"/>
                </a:solidFill>
                <a:latin typeface="Microsoft YaHei"/>
                <a:ea typeface="Microsoft YaHei"/>
                <a:cs typeface="Microsoft YaHei"/>
              </a:rPr>
              <a:t>METRICS · 召回速度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713232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满载也只 1.4 毫秒</a:t>
            </a:r>
          </a:p>
        </p:txBody>
      </p:sp>
      <p:pic>
        <p:nvPicPr>
          <p:cNvPr id="6" name="Picture 5" descr="recall_sp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37360"/>
            <a:ext cx="6949440" cy="391224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92440" y="182880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141C3A"/>
          </a:solidFill>
          <a:ln w="12700">
            <a:solidFill>
              <a:srgbClr val="334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40" y="2048256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4FD1C5"/>
                </a:solidFill>
                <a:latin typeface="Microsoft YaHei"/>
                <a:ea typeface="Microsoft YaHei"/>
                <a:cs typeface="Microsoft YaHei"/>
              </a:rPr>
              <a:t>1.4 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74320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满载 400 条情景 · 单次召回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338328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141C3A"/>
          </a:solidFill>
          <a:ln w="12700">
            <a:solidFill>
              <a:srgbClr val="334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3602736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5BD6A0"/>
                </a:solidFill>
                <a:latin typeface="Microsoft YaHei"/>
                <a:ea typeface="Microsoft YaHei"/>
                <a:cs typeface="Microsoft YaHei"/>
              </a:rPr>
              <a:t>1.6 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429768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端到端 prepare_turn @400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4983480"/>
            <a:ext cx="36118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O(n) 随记忆量线性，400 上限封顶。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相对大模型首字（数百毫秒）可忽略；单核 700+ 次/秒。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relationshape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85655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82296" cy="475488"/>
          </a:xfrm>
          <a:prstGeom prst="rect">
            <a:avLst/>
          </a:prstGeom>
          <a:solidFill>
            <a:srgbClr val="F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45720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FD1C5"/>
                </a:solidFill>
                <a:latin typeface="Microsoft YaHei"/>
                <a:ea typeface="Microsoft YaHei"/>
                <a:cs typeface="Microsoft YaHei"/>
              </a:rPr>
              <a:t>QUALITY · 测试总览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713232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一键跑齐 · 全绿</a:t>
            </a:r>
          </a:p>
        </p:txBody>
      </p:sp>
      <p:pic>
        <p:nvPicPr>
          <p:cNvPr id="6" name="Picture 5" descr="test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91640"/>
            <a:ext cx="7315200" cy="329720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58200" y="1920240"/>
            <a:ext cx="3383280" cy="1371600"/>
          </a:xfrm>
          <a:prstGeom prst="roundRect">
            <a:avLst>
              <a:gd name="adj" fmla="val 6000"/>
            </a:avLst>
          </a:prstGeom>
          <a:solidFill>
            <a:srgbClr val="141C3A"/>
          </a:solidFill>
          <a:ln w="12700">
            <a:solidFill>
              <a:srgbClr val="334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2139696"/>
            <a:ext cx="3383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5BD6A0"/>
                </a:solidFill>
                <a:latin typeface="Microsoft YaHei"/>
                <a:ea typeface="Microsoft YaHei"/>
                <a:cs typeface="Microsoft YaHei"/>
              </a:rPr>
              <a:t>5 /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283464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强校验全部通过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58200" y="3474720"/>
            <a:ext cx="3383280" cy="1371600"/>
          </a:xfrm>
          <a:prstGeom prst="roundRect">
            <a:avLst>
              <a:gd name="adj" fmla="val 6000"/>
            </a:avLst>
          </a:prstGeom>
          <a:solidFill>
            <a:srgbClr val="141C3A"/>
          </a:solidFill>
          <a:ln w="12700">
            <a:solidFill>
              <a:srgbClr val="334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8200" y="3694176"/>
            <a:ext cx="3383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4FD1C5"/>
                </a:solidFill>
                <a:latin typeface="Microsoft YaHei"/>
                <a:ea typeface="Microsoft YaHei"/>
                <a:cs typeface="Microsoft YaHei"/>
              </a:rPr>
              <a:t>234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438912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项自动化测试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5074920"/>
            <a:ext cx="3429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单测 + 压测 + 模糊 + 快照 + 持久化，</a:t>
            </a:r>
            <a:r>
              <a:rPr sz="1250" b="1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一条命令出总表。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relationshape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85655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82296" cy="475488"/>
          </a:xfrm>
          <a:prstGeom prst="rect">
            <a:avLst/>
          </a:prstGeom>
          <a:solidFill>
            <a:srgbClr val="F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45720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FD1C5"/>
                </a:solidFill>
                <a:latin typeface="Microsoft YaHei"/>
                <a:ea typeface="Microsoft YaHei"/>
                <a:cs typeface="Microsoft YaHei"/>
              </a:rPr>
              <a:t>EXTENSIBLE · 可选增强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713232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LLM 抽取层：补召回，不破精确率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5090007" cy="3566160"/>
          </a:xfrm>
          <a:prstGeom prst="roundRect">
            <a:avLst>
              <a:gd name="adj" fmla="val 6000"/>
            </a:avLst>
          </a:prstGeom>
          <a:solidFill>
            <a:srgbClr val="1B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64008" cy="356616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84832"/>
            <a:ext cx="45870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默认：纯规则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542032"/>
            <a:ext cx="4587087" cy="28529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零外部依赖、确定性、精确率满分。覆盖常见关键词句式，毫秒级。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4447" y="1828800"/>
            <a:ext cx="5090007" cy="3566160"/>
          </a:xfrm>
          <a:prstGeom prst="roundRect">
            <a:avLst>
              <a:gd name="adj" fmla="val 6000"/>
            </a:avLst>
          </a:prstGeom>
          <a:solidFill>
            <a:srgbClr val="1B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24447" y="1828800"/>
            <a:ext cx="64008" cy="3566160"/>
          </a:xfrm>
          <a:prstGeom prst="rect">
            <a:avLst/>
          </a:prstGeom>
          <a:solidFill>
            <a:srgbClr val="F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98767" y="2084832"/>
            <a:ext cx="45870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接入：规则 + LLM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2542032"/>
            <a:ext cx="4587087" cy="28529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把上层大模型实成 MemoryExtractorPort，补齐口语/语义句式，召回推到上界。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532120"/>
            <a:ext cx="10637215" cy="822960"/>
          </a:xfrm>
          <a:prstGeom prst="roundRect">
            <a:avLst>
              <a:gd name="adj" fmla="val 6000"/>
            </a:avLst>
          </a:prstGeom>
          <a:solidFill>
            <a:srgbClr val="141C3A"/>
          </a:solidFill>
          <a:ln w="15240">
            <a:solidFill>
              <a:srgbClr val="FFC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532120"/>
            <a:ext cx="99971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C75F"/>
                </a:solidFill>
                <a:latin typeface="Microsoft YaHei"/>
                <a:ea typeface="Microsoft YaHei"/>
                <a:cs typeface="Microsoft YaHei"/>
              </a:rPr>
              <a:t>子串接地  </a:t>
            </a:r>
            <a:r>
              <a:rPr sz="1300" b="0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LLM 只能框选/归一原文片段，凭空造的词进不了记忆——精确率不变量在 LLM 介入后依然成立。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relationshape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85655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82296" cy="475488"/>
          </a:xfrm>
          <a:prstGeom prst="rect">
            <a:avLst/>
          </a:prstGeom>
          <a:solidFill>
            <a:srgbClr val="F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45720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FD1C5"/>
                </a:solidFill>
                <a:latin typeface="Microsoft YaHei"/>
                <a:ea typeface="Microsoft YaHei"/>
                <a:cs typeface="Microsoft YaHei"/>
              </a:rPr>
              <a:t>PERSISTENCE · 持久化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713232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从 JSON 到真实数据库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5090007" cy="3383280"/>
          </a:xfrm>
          <a:prstGeom prst="roundRect">
            <a:avLst>
              <a:gd name="adj" fmla="val 6000"/>
            </a:avLst>
          </a:prstGeom>
          <a:solidFill>
            <a:srgbClr val="1B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64008" cy="338328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84832"/>
            <a:ext cx="45870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JSON · 默认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542032"/>
            <a:ext cx="4587087" cy="2670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每用户一份状态文件，原子写入，零依赖。开箱即用，适合单机与起步。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4447" y="1828800"/>
            <a:ext cx="5090007" cy="3383280"/>
          </a:xfrm>
          <a:prstGeom prst="roundRect">
            <a:avLst>
              <a:gd name="adj" fmla="val 6000"/>
            </a:avLst>
          </a:prstGeom>
          <a:solidFill>
            <a:srgbClr val="1B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24447" y="1828800"/>
            <a:ext cx="64008" cy="3383280"/>
          </a:xfrm>
          <a:prstGeom prst="rect">
            <a:avLst/>
          </a:prstGeom>
          <a:solidFill>
            <a:srgbClr val="F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98767" y="2084832"/>
            <a:ext cx="45870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PostgreSQL · 生产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2542032"/>
            <a:ext cx="4587087" cy="2670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复用 memory_system 的 PG 实例；状态整存 JSONB——事务/并发安全、可按 JSON 路径查询、随版本演进零迁移。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440680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同一 StateStore 接口可插拔，配置即切换；跨进程恢复、精确率跨持久化保持，已在真实 PG 上端到端验证。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relationshape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85655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82296" cy="475488"/>
          </a:xfrm>
          <a:prstGeom prst="rect">
            <a:avLst/>
          </a:prstGeom>
          <a:solidFill>
            <a:srgbClr val="F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45720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FD1C5"/>
                </a:solidFill>
                <a:latin typeface="Microsoft YaHei"/>
                <a:ea typeface="Microsoft YaHei"/>
                <a:cs typeface="Microsoft YaHei"/>
              </a:rPr>
              <a:t>ENGINEERING · 工程严谨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713232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可测试 · 可持久化 · 可观测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11680"/>
            <a:ext cx="2453563" cy="2103120"/>
          </a:xfrm>
          <a:prstGeom prst="roundRect">
            <a:avLst>
              <a:gd name="adj" fmla="val 6000"/>
            </a:avLst>
          </a:prstGeom>
          <a:solidFill>
            <a:srgbClr val="1B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011680"/>
            <a:ext cx="2453563" cy="64008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245356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4FD1C5"/>
                </a:solidFill>
                <a:latin typeface="Microsoft YaHei"/>
                <a:ea typeface="Microsoft YaHei"/>
                <a:cs typeface="Microsoft YaHei"/>
              </a:rPr>
              <a:t>234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337560"/>
            <a:ext cx="208780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项自动化测试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5123" y="2011680"/>
            <a:ext cx="2453563" cy="2103120"/>
          </a:xfrm>
          <a:prstGeom prst="roundRect">
            <a:avLst>
              <a:gd name="adj" fmla="val 6000"/>
            </a:avLst>
          </a:prstGeom>
          <a:solidFill>
            <a:srgbClr val="1B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05123" y="2011680"/>
            <a:ext cx="2453563" cy="64008"/>
          </a:xfrm>
          <a:prstGeom prst="rect">
            <a:avLst/>
          </a:prstGeom>
          <a:solidFill>
            <a:srgbClr val="FFC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05123" y="2423160"/>
            <a:ext cx="245356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C75F"/>
                </a:solidFill>
                <a:latin typeface="Microsoft YaHei"/>
                <a:ea typeface="Microsoft YaHei"/>
                <a:cs typeface="Microsoft YaHei"/>
              </a:rPr>
              <a:t>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8003" y="3337560"/>
            <a:ext cx="208780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外部依赖内核（纯标准库）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2011680"/>
            <a:ext cx="2453563" cy="2103120"/>
          </a:xfrm>
          <a:prstGeom prst="roundRect">
            <a:avLst>
              <a:gd name="adj" fmla="val 6000"/>
            </a:avLst>
          </a:prstGeom>
          <a:solidFill>
            <a:srgbClr val="1B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3007" y="2011680"/>
            <a:ext cx="2453563" cy="64008"/>
          </a:xfrm>
          <a:prstGeom prst="rect">
            <a:avLst/>
          </a:prstGeom>
          <a:solidFill>
            <a:srgbClr val="F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3007" y="2423160"/>
            <a:ext cx="245356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7A66"/>
                </a:solidFill>
                <a:latin typeface="Microsoft YaHei"/>
                <a:ea typeface="Microsoft YaHei"/>
                <a:cs typeface="Microsoft YaHei"/>
              </a:rPr>
              <a:t>54 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5887" y="3337560"/>
            <a:ext cx="208780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指令快照零漂移回归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0891" y="2011680"/>
            <a:ext cx="2453563" cy="2103120"/>
          </a:xfrm>
          <a:prstGeom prst="roundRect">
            <a:avLst>
              <a:gd name="adj" fmla="val 6000"/>
            </a:avLst>
          </a:prstGeom>
          <a:solidFill>
            <a:srgbClr val="1B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60891" y="2011680"/>
            <a:ext cx="2453563" cy="64008"/>
          </a:xfrm>
          <a:prstGeom prst="rect">
            <a:avLst/>
          </a:prstGeom>
          <a:solidFill>
            <a:srgbClr val="5BD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0891" y="2423160"/>
            <a:ext cx="245356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5BD6A0"/>
                </a:solidFill>
                <a:latin typeface="Microsoft YaHei"/>
                <a:ea typeface="Microsoft YaHei"/>
                <a:cs typeface="Microsoft YaHei"/>
              </a:rPr>
              <a:t>上万条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3771" y="3337560"/>
            <a:ext cx="208780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生成式留出集 · 反作弊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663440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感知层是稳定契约，可整体替换为分类模型/LLM；记忆融合留有 MemoryPort 座椅——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结构不变，能力可演进。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relationshape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85655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82296" cy="475488"/>
          </a:xfrm>
          <a:prstGeom prst="rect">
            <a:avLst/>
          </a:prstGeom>
          <a:solidFill>
            <a:srgbClr val="F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45720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FD1C5"/>
                </a:solidFill>
                <a:latin typeface="Microsoft YaHei"/>
                <a:ea typeface="Microsoft YaHei"/>
                <a:cs typeface="Microsoft YaHei"/>
              </a:rPr>
              <a:t>WHY · 为什么选它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713232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不是更大的模型，是更长的关系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83080"/>
            <a:ext cx="5135727" cy="1783080"/>
          </a:xfrm>
          <a:prstGeom prst="roundRect">
            <a:avLst>
              <a:gd name="adj" fmla="val 6000"/>
            </a:avLst>
          </a:prstGeom>
          <a:solidFill>
            <a:srgbClr val="1B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64008" cy="1783080"/>
          </a:xfrm>
          <a:prstGeom prst="rect">
            <a:avLst/>
          </a:prstGeom>
          <a:solidFill>
            <a:srgbClr val="F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39112"/>
            <a:ext cx="463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记得准，不记错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96312"/>
            <a:ext cx="4632807" cy="1069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100 万轮独立对话零污染——结构化事实记忆稳定，比字面命中可靠。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783080"/>
            <a:ext cx="5135727" cy="1783080"/>
          </a:xfrm>
          <a:prstGeom prst="roundRect">
            <a:avLst>
              <a:gd name="adj" fmla="val 6000"/>
            </a:avLst>
          </a:prstGeom>
          <a:solidFill>
            <a:srgbClr val="1B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1783080"/>
            <a:ext cx="64008" cy="1783080"/>
          </a:xfrm>
          <a:prstGeom prst="rect">
            <a:avLst/>
          </a:prstGeom>
          <a:solidFill>
            <a:srgbClr val="FFC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3047" y="2039112"/>
            <a:ext cx="463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随时间生长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496312"/>
            <a:ext cx="4632807" cy="1069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陌生到知己，每个孩子磨合出一个独有的它，而不是统一客服。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794760"/>
            <a:ext cx="5135727" cy="1783080"/>
          </a:xfrm>
          <a:prstGeom prst="roundRect">
            <a:avLst>
              <a:gd name="adj" fmla="val 6000"/>
            </a:avLst>
          </a:prstGeom>
          <a:solidFill>
            <a:srgbClr val="1B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794760"/>
            <a:ext cx="64008" cy="178308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050792"/>
            <a:ext cx="463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理论驱动 · 安全优先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507992"/>
            <a:ext cx="4632807" cy="10698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十余套人际/情绪/幽默文献落地为机制；危机接管与不制造依赖是红线。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8727" y="3794760"/>
            <a:ext cx="5135727" cy="1783080"/>
          </a:xfrm>
          <a:prstGeom prst="roundRect">
            <a:avLst>
              <a:gd name="adj" fmla="val 6000"/>
            </a:avLst>
          </a:prstGeom>
          <a:solidFill>
            <a:srgbClr val="1B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78727" y="3794760"/>
            <a:ext cx="64008" cy="1783080"/>
          </a:xfrm>
          <a:prstGeom prst="rect">
            <a:avLst/>
          </a:prstGeom>
          <a:solidFill>
            <a:srgbClr val="5BD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53047" y="4050792"/>
            <a:ext cx="463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轻到可忽略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3047" y="4507992"/>
            <a:ext cx="4632807" cy="10698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零依赖内核，关键路径 1.6ms，挂在任意大模型旁边即用。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relationshape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85655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109728"/>
          </a:xfrm>
          <a:prstGeom prst="rect">
            <a:avLst/>
          </a:prstGeom>
          <a:solidFill>
            <a:srgbClr val="F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47688"/>
            <a:ext cx="12191695" cy="54864"/>
          </a:xfrm>
          <a:prstGeom prst="rect">
            <a:avLst/>
          </a:prstGeom>
          <a:solidFill>
            <a:srgbClr val="FFC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28600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relationshape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429000"/>
            <a:ext cx="121916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4FD1C5"/>
                </a:solidFill>
                <a:latin typeface="Microsoft YaHei"/>
                <a:ea typeface="Microsoft YaHei"/>
                <a:cs typeface="Microsoft YaHei"/>
              </a:rPr>
              <a:t>给长期陪伴型 AI，一段真正会生长的关系。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29768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关系 · 人格 · 情商 · 记忆 · 安全 —— 一套可生长、可持久化、可测试的状态机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relationshape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85655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AA6C4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